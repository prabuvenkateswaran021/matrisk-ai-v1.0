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Loss (₹ Lakh)</c:v>
                </c:pt>
              </c:strCache>
            </c:strRef>
          </c:tx>
          <c:spPr>
            <a:solidFill>
              <a:srgbClr val="F9A82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Dec-23</c:v>
                  </c:pt>
                  <c:pt idx="1">
                    <c:v>Jan-24</c:v>
                  </c:pt>
                  <c:pt idx="2">
                    <c:v>Feb-24</c:v>
                  </c:pt>
                  <c:pt idx="3">
                    <c:v>Mar-24</c:v>
                  </c:pt>
                  <c:pt idx="4">
                    <c:v>Apr-24</c:v>
                  </c:pt>
                  <c:pt idx="5">
                    <c:v>May-24</c:v>
                  </c:pt>
                  <c:pt idx="6">
                    <c:v>Jun-24</c:v>
                  </c:pt>
                  <c:pt idx="7">
                    <c:v>Jul-24</c:v>
                  </c:pt>
                  <c:pt idx="8">
                    <c:v>Aug-24</c:v>
                  </c:pt>
                  <c:pt idx="9">
                    <c:v>Sep-24</c:v>
                  </c:pt>
                  <c:pt idx="10">
                    <c:v>Oct-24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8.15</c:v>
                </c:pt>
                <c:pt idx="1">
                  <c:v>8.51</c:v>
                </c:pt>
                <c:pt idx="2">
                  <c:v>7.26</c:v>
                </c:pt>
                <c:pt idx="3">
                  <c:v>7.78</c:v>
                </c:pt>
                <c:pt idx="4">
                  <c:v>7.11</c:v>
                </c:pt>
                <c:pt idx="5">
                  <c:v>9.55</c:v>
                </c:pt>
                <c:pt idx="6">
                  <c:v>4.58</c:v>
                </c:pt>
                <c:pt idx="7">
                  <c:v>5.34</c:v>
                </c:pt>
                <c:pt idx="8">
                  <c:v>5.54</c:v>
                </c:pt>
                <c:pt idx="9">
                  <c:v>4.03</c:v>
                </c:pt>
                <c:pt idx="10">
                  <c:v>4.19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BoP Balance (₹ Cr)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Dec-23</c:v>
                  </c:pt>
                  <c:pt idx="1">
                    <c:v>Jan-24</c:v>
                  </c:pt>
                  <c:pt idx="2">
                    <c:v>Feb-24</c:v>
                  </c:pt>
                  <c:pt idx="3">
                    <c:v>Mar-24</c:v>
                  </c:pt>
                  <c:pt idx="4">
                    <c:v>Apr-24</c:v>
                  </c:pt>
                  <c:pt idx="5">
                    <c:v>May-24</c:v>
                  </c:pt>
                  <c:pt idx="6">
                    <c:v>Jun-24</c:v>
                  </c:pt>
                  <c:pt idx="7">
                    <c:v>Jul-24</c:v>
                  </c:pt>
                  <c:pt idx="8">
                    <c:v>Aug-24</c:v>
                  </c:pt>
                  <c:pt idx="9">
                    <c:v>Sep-24</c:v>
                  </c:pt>
                  <c:pt idx="10">
                    <c:v>Oct-24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54.26</c:v>
                </c:pt>
                <c:pt idx="1">
                  <c:v>54.51</c:v>
                </c:pt>
                <c:pt idx="2">
                  <c:v>52.67</c:v>
                </c:pt>
                <c:pt idx="3">
                  <c:v>52.26</c:v>
                </c:pt>
                <c:pt idx="4">
                  <c:v>52.56</c:v>
                </c:pt>
                <c:pt idx="5">
                  <c:v>51.78</c:v>
                </c:pt>
                <c:pt idx="6">
                  <c:v>51.5</c:v>
                </c:pt>
                <c:pt idx="7">
                  <c:v>50.61</c:v>
                </c:pt>
                <c:pt idx="8">
                  <c:v>50.36</c:v>
                </c:pt>
                <c:pt idx="9">
                  <c:v>48.68</c:v>
                </c:pt>
                <c:pt idx="10">
                  <c:v>47.01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B8794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5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F9A82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F9A825"/>
                    </a:solidFill>
                    <a:latin typeface="Arial"/>
                  </a:rPr>
                  <a:t>Net Loss (₹ Lakh)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B8794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1E2761"/>
                    </a:solidFill>
                    <a:latin typeface="Arial"/>
                  </a:rPr>
                  <a:t>Balance (₹ Cr)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B8794"/>
                </a:solidFill>
                <a:latin typeface="Consolas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B8794"/>
                </a:solidFill>
                <a:latin typeface="Consolas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Stressed ECL (₹ Cr)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</c:v>
                  </c:pt>
                  <c:pt idx="1">
                    <c:v>MILD</c:v>
                  </c:pt>
                  <c:pt idx="2">
                    <c:v>MODERATE</c:v>
                  </c:pt>
                  <c:pt idx="3">
                    <c:v>SEVERE</c:v>
                  </c:pt>
                  <c:pt idx="4">
                    <c:v>CRISIS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1.17</c:v>
                </c:pt>
                <c:pt idx="1">
                  <c:v>1.73</c:v>
                </c:pt>
                <c:pt idx="2">
                  <c:v>2.53</c:v>
                </c:pt>
                <c:pt idx="3">
                  <c:v>3.94</c:v>
                </c:pt>
                <c:pt idx="4">
                  <c:v>5.8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35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B8794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0" kern="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MATRISK 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Securitisation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Analytics  ·  v1.0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4023360"/>
            <a:ext cx="3657600" cy="0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Auto-Loan ABS  ·  Pool ZAAUTO2024-1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ECL  ·  Multi-Scenario Stress Testing  ·  Waterfall &amp; Tranche Modelling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ZETHETA ALGORITHMS PVT. LTD.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Strictly Private &amp; Confidential — Not for Circulation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98480" y="228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Pool ZAAUTO2024-1 at a glance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500-loan Indian auto-loan securitisation, ₹54.6 Cr originally issued, AAA(SO) / AA(SO) / BBB(SO) tranches.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73152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 BALANCE (₹ CR)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₹31.78 Cr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factor 0.5819 · 12 months seasoning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92024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920240"/>
            <a:ext cx="73152" cy="18288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IFRS 9 ECL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20440" y="2377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₹1.17 Cr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520440" y="3337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3.58 % of EAD · ₹32.6 Cr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92024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920240"/>
            <a:ext cx="73152" cy="18288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NPA RATIO (90+ DPD)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55080" y="2377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5.57 %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355080" y="3337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definition · 33 loans Stage 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61120" y="1920240"/>
            <a:ext cx="26517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61120" y="1920240"/>
            <a:ext cx="73152" cy="18288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918972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 ENHANCEMENT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89720" y="2377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27.1 %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189720" y="3337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Subordination remaining for senior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Python analytics package (matrisk) — IFRS 9 staging, 5-scenario stress testing, bottom-up loss allocation, 9-step waterfall, 150-measure DAX library.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 HTML risk terminal with 7 dashboards. 150 passing tests at 87 % coverage. Fully containerised; CI green on Python 3.10–3.12.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393192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tranche absorbs no loss in 4 of 5 scenarios; tail crisis (4.5×PD, 1.75×LGD) breaches mezzanine. Reproducible analytics that an investor or regulator can audit end-to-end.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Patent-ready: novel IFRS 9 lifetime-PD transform, bottom-up loss allocator, parameterised stress engine. Single Python source of truth for both Power BI and the web dashboard.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Strictly Private &amp; Confidential  ·  Zetheta IP  ·  MatRisk AI v1.0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98480" y="228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PROBLEM &amp; 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securitisation analytics is hard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Multi-source heterogeneous data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tape, DPD snapshots, monthly loss tape, static-pool vintage data — each in a different shape, each needing normalisation before any meaningful ratio can be computed.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743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accounting overlap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3246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9 staging, RBI SMA classification, Basel III EAD, and tranche-level reporting requirements all overlap but use slightly different definitions. Pipelines must reconcile, not pick one.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4206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testing must be auditable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71600" y="47091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and rating agencies need to re-run a scenario at any time. Stored result tables are not enough — the scenario engine and its inputs must travel with the deliverable.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Strictly Private &amp; Confidential  ·  Zetheta IP  ·  MatRisk AI v1.0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98480" y="228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DATA &amp;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four raw CSVs to seven live dashboards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INPUTS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9260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83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loans · 58 fields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29260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77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6 000 DPD snapshots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29260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71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monthly loss rows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29260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66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375 vintage rows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1417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 LAYER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1783080"/>
            <a:ext cx="429768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1783080"/>
            <a:ext cx="4297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data.loaders</a:t>
            </a:r>
            <a:pPr indent="0" marL="0">
              <a:buNone/>
            </a:pPr>
            <a:r>
              <a:rPr lang="en-US" sz="95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Schema-validated ingest, ratio-to-pct normalisation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931920" y="2286000"/>
            <a:ext cx="429768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2286000"/>
            <a:ext cx="4297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analytics.portfolio</a:t>
            </a:r>
            <a:pPr indent="0" marL="0">
              <a:buNone/>
            </a:pPr>
            <a:r>
              <a:rPr lang="en-US" sz="95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Pool factor · WAC/WAM · weighted LTV/DTI/CIBIL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31920" y="2788920"/>
            <a:ext cx="429768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2788920"/>
            <a:ext cx="4297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analytics.credit</a:t>
            </a:r>
            <a:pPr indent="0" marL="0">
              <a:buNone/>
            </a:pPr>
            <a:r>
              <a:rPr lang="en-US" sz="95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IFRS 9 stage assignment · 12m/lifetime ECL · collar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931920" y="3291840"/>
            <a:ext cx="429768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3291840"/>
            <a:ext cx="4297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analytics.stress</a:t>
            </a:r>
            <a:pPr indent="0" marL="0">
              <a:buNone/>
            </a:pPr>
            <a:r>
              <a:rPr lang="en-US" sz="95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PD×LGD multiplier sweep · scenario engine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931920" y="3794760"/>
            <a:ext cx="4297680" cy="411480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3794760"/>
            <a:ext cx="429768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analytics.waterfall</a:t>
            </a:r>
            <a:pPr indent="0" marL="0">
              <a:buNone/>
            </a:pPr>
            <a:r>
              <a:rPr lang="en-US" sz="95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9-step priority of payments · loss allocation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77824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778240" y="1783080"/>
            <a:ext cx="2926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0" y="1783080"/>
            <a:ext cx="2926080" cy="41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risk terminal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778240" y="2286000"/>
            <a:ext cx="2926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0" y="2286000"/>
            <a:ext cx="2926080" cy="41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BI .pbix model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778240" y="2788920"/>
            <a:ext cx="2926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0" y="2788920"/>
            <a:ext cx="2926080" cy="41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 DAX measures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778240" y="3291840"/>
            <a:ext cx="2926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 cross-checks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778240" y="3794760"/>
            <a:ext cx="2926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0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report PDF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solidFill>
            <a:srgbClr val="0F1735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star-schema tables    </a:t>
            </a:r>
            <a:pPr algn="ctr"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 </a:t>
            </a:r>
            <a:pPr algn="ctr"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152</a:t>
            </a:r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DAX measures    </a:t>
            </a:r>
            <a:pPr algn="ctr"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 </a:t>
            </a:r>
            <a:pPr algn="ctr"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</a:t>
            </a:r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tests passing    </a:t>
            </a:r>
            <a:pPr algn="ctr"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 </a:t>
            </a:r>
            <a:pPr algn="ctr"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87 %</a:t>
            </a:r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line coverage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Strictly Private &amp; Confidential  ·  Zetheta IP  ·  MatRisk AI v1.0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98480" y="228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IFRS 9 ECL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Credit Loss in three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365760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 &lt; 30 · no SICR · IsDefaulted = FALSE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0F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12-month ECL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900" dirty="0"/>
          </a:p>
          <a:p>
            <a:pPr indent="0" marL="0">
              <a:buNone/>
            </a:pPr>
            <a:r>
              <a:rPr lang="en-US" sz="140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 loans</a:t>
            </a: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₹27.29 Cr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</a:t>
            </a:r>
            <a:endParaRPr lang="en-US" sz="9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₹0.28 Cr</a:t>
            </a:r>
            <a:endParaRPr lang="en-US" sz="900" dirty="0"/>
          </a:p>
          <a:p>
            <a:pPr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0.0 % of EAD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43400" y="1463040"/>
            <a:ext cx="36576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463040"/>
            <a:ext cx="3657600" cy="4572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SICR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26280" y="2606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≤ DPD &lt; 90  OR  CIBIL drop ≥ 50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329184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0F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Lifetime ECL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900" dirty="0"/>
          </a:p>
          <a:p>
            <a:pPr indent="0" marL="0">
              <a:buNone/>
            </a:pPr>
            <a:r>
              <a:rPr lang="en-US" sz="140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loans</a:t>
            </a: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₹2.72 Cr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</a:t>
            </a:r>
            <a:endParaRPr lang="en-US" sz="9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₹0.16 Cr</a:t>
            </a:r>
            <a:endParaRPr lang="en-US" sz="900" dirty="0"/>
          </a:p>
          <a:p>
            <a:pPr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5.9 % of EAD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0" y="1463040"/>
            <a:ext cx="36576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1463040"/>
            <a:ext cx="365760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Impaired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12480" y="2606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 ≥ 90  OR  IsDefaulted  ·  one-way ratchet (§5.5.20)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329184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900" dirty="0"/>
          </a:p>
          <a:p>
            <a:pPr indent="0" marL="0">
              <a:buNone/>
            </a:pPr>
            <a:r>
              <a:rPr lang="en-US" sz="1200" dirty="0">
                <a:solidFill>
                  <a:srgbClr val="0F17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Lifetime ECL · PD ≥ 95 %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900" dirty="0"/>
          </a:p>
          <a:p>
            <a:pPr indent="0" marL="0">
              <a:buNone/>
            </a:pPr>
            <a:r>
              <a:rPr lang="en-US" sz="140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loans</a:t>
            </a: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₹1.77 Cr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spc="400" kern="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</a:t>
            </a:r>
            <a:endParaRPr lang="en-US" sz="900" dirty="0"/>
          </a:p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₹0.85 Cr</a:t>
            </a:r>
            <a:endParaRPr lang="en-US" sz="900" dirty="0"/>
          </a:p>
          <a:p>
            <a:pPr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46.6 % of EAD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Strictly Private &amp; Confidential  ·  Zetheta IP  ·  MatRisk AI v1.0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98480" y="228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POOL HEALTH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12-month pool balance and net loss trajectory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Dec-23 → Oct-24 · BoP balance (₹ Cr) and net loss (₹ Lakh) · Pool factor declines from 0.99 to 0.58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91640"/>
          <a:ext cx="7772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03920" y="1691640"/>
            <a:ext cx="3200400" cy="914400"/>
          </a:xfrm>
          <a:prstGeom prst="rect">
            <a:avLst/>
          </a:prstGeom>
          <a:solidFill>
            <a:srgbClr val="0F1735"/>
          </a:solidFill>
          <a:ln/>
        </p:spPr>
      </p:sp>
      <p:sp>
        <p:nvSpPr>
          <p:cNvPr id="8" name="Text 5"/>
          <p:cNvSpPr/>
          <p:nvPr/>
        </p:nvSpPr>
        <p:spPr>
          <a:xfrm>
            <a:off x="8641080" y="17556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 factor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41080" y="1965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0.5819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641080" y="23500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41.8 % amortised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503920" y="2724912"/>
            <a:ext cx="3200400" cy="914400"/>
          </a:xfrm>
          <a:prstGeom prst="rect">
            <a:avLst/>
          </a:prstGeom>
          <a:solidFill>
            <a:srgbClr val="0F1735"/>
          </a:solidFill>
          <a:ln/>
        </p:spPr>
      </p:sp>
      <p:sp>
        <p:nvSpPr>
          <p:cNvPr id="12" name="Text 9"/>
          <p:cNvSpPr/>
          <p:nvPr/>
        </p:nvSpPr>
        <p:spPr>
          <a:xfrm>
            <a:off x="8641080" y="27889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WAC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641080" y="29992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10.95 %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641080" y="33832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fiscal yr basis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503920" y="3758184"/>
            <a:ext cx="3200400" cy="914400"/>
          </a:xfrm>
          <a:prstGeom prst="rect">
            <a:avLst/>
          </a:prstGeom>
          <a:solidFill>
            <a:srgbClr val="0F1735"/>
          </a:solidFill>
          <a:ln/>
        </p:spPr>
      </p:sp>
      <p:sp>
        <p:nvSpPr>
          <p:cNvPr id="16" name="Text 13"/>
          <p:cNvSpPr/>
          <p:nvPr/>
        </p:nvSpPr>
        <p:spPr>
          <a:xfrm>
            <a:off x="8641080" y="38221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 CIBIL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641080" y="403250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742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641080" y="44165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band overall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503920" y="4791456"/>
            <a:ext cx="3200400" cy="914400"/>
          </a:xfrm>
          <a:prstGeom prst="rect">
            <a:avLst/>
          </a:prstGeom>
          <a:solidFill>
            <a:srgbClr val="0F1735"/>
          </a:solidFill>
          <a:ln/>
        </p:spPr>
      </p:sp>
      <p:sp>
        <p:nvSpPr>
          <p:cNvPr id="20" name="Text 17"/>
          <p:cNvSpPr/>
          <p:nvPr/>
        </p:nvSpPr>
        <p:spPr>
          <a:xfrm>
            <a:off x="8641080" y="485546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 eff.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41080" y="50657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129 %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8641080" y="54498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surplus on EMI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Strictly Private &amp; Confidential  ·  Zetheta IP  ·  MatRisk AI v1.0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98480" y="228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STRESS TESTING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Five-scenario PD × LGD multiplier sweep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 response to multiplicative shocks · BASE 1.0× → CRISIS 4.5×PD, 1.75×LGD · all values in ₹ Cr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91640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691640"/>
          <a:ext cx="50292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Scenario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ECL (₹ Cr)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Uplift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1.17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MILD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1.73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A82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+48 %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MODERATE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2.53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A82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+117 %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SEVERE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3.94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+238 %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CRISIS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5.80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+397 %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675120" y="4160520"/>
            <a:ext cx="5029200" cy="1645920"/>
          </a:xfrm>
          <a:prstGeom prst="rect">
            <a:avLst/>
          </a:prstGeom>
          <a:solidFill>
            <a:srgbClr val="0F1735"/>
          </a:solidFill>
          <a:ln/>
        </p:spPr>
      </p:sp>
      <p:sp>
        <p:nvSpPr>
          <p:cNvPr id="9" name="Shape 5"/>
          <p:cNvSpPr/>
          <p:nvPr/>
        </p:nvSpPr>
        <p:spPr>
          <a:xfrm>
            <a:off x="6675120" y="4160520"/>
            <a:ext cx="73152" cy="16459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0" y="4297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Tail-risk finding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858000" y="46177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absorbs 0 loss in 4 of 5 scenarios.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IL&amp;FS/COVID-style crisis (4.5×PD, 1.75×LGD) breaches the mezzanine — and even then equity is wiped first by ₹4.37 Cr before mezz takes ₹1.43 Cr.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Strictly Private &amp; Confidential  ·  Zetheta IP  ·  MatRisk AI v1.0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98480" y="228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WATERFALL &amp; TRANCHES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9-step priority of payments  ·  Bottom-up loss allocation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20904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120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Collections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11960" y="1508760"/>
            <a:ext cx="1209040" cy="640080"/>
          </a:xfrm>
          <a:prstGeom prst="rect">
            <a:avLst/>
          </a:prstGeom>
          <a:solidFill>
            <a:srgbClr val="0F1735"/>
          </a:solidFill>
          <a:ln/>
        </p:spPr>
      </p:sp>
      <p:sp>
        <p:nvSpPr>
          <p:cNvPr id="8" name="Text 6"/>
          <p:cNvSpPr/>
          <p:nvPr/>
        </p:nvSpPr>
        <p:spPr>
          <a:xfrm>
            <a:off x="1711960" y="1508760"/>
            <a:ext cx="120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Servicer fee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66720" y="1508760"/>
            <a:ext cx="1209040" cy="640080"/>
          </a:xfrm>
          <a:prstGeom prst="rect">
            <a:avLst/>
          </a:prstGeom>
          <a:solidFill>
            <a:srgbClr val="0F1735"/>
          </a:solidFill>
          <a:ln/>
        </p:spPr>
      </p:sp>
      <p:sp>
        <p:nvSpPr>
          <p:cNvPr id="10" name="Text 8"/>
          <p:cNvSpPr/>
          <p:nvPr/>
        </p:nvSpPr>
        <p:spPr>
          <a:xfrm>
            <a:off x="2966720" y="1508760"/>
            <a:ext cx="120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Trustee fee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21480" y="1508760"/>
            <a:ext cx="1209040" cy="640080"/>
          </a:xfrm>
          <a:prstGeom prst="rect">
            <a:avLst/>
          </a:prstGeom>
          <a:solidFill>
            <a:srgbClr val="0F1735"/>
          </a:solidFill>
          <a:ln/>
        </p:spPr>
      </p:sp>
      <p:sp>
        <p:nvSpPr>
          <p:cNvPr id="12" name="Text 10"/>
          <p:cNvSpPr/>
          <p:nvPr/>
        </p:nvSpPr>
        <p:spPr>
          <a:xfrm>
            <a:off x="4221480" y="1508760"/>
            <a:ext cx="120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Sr interest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76240" y="1508760"/>
            <a:ext cx="1209040" cy="640080"/>
          </a:xfrm>
          <a:prstGeom prst="rect">
            <a:avLst/>
          </a:prstGeom>
          <a:solidFill>
            <a:srgbClr val="0F1735"/>
          </a:solidFill>
          <a:ln/>
        </p:spPr>
      </p:sp>
      <p:sp>
        <p:nvSpPr>
          <p:cNvPr id="14" name="Text 12"/>
          <p:cNvSpPr/>
          <p:nvPr/>
        </p:nvSpPr>
        <p:spPr>
          <a:xfrm>
            <a:off x="5476240" y="1508760"/>
            <a:ext cx="120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Sr principal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31000" y="1508760"/>
            <a:ext cx="1209040" cy="640080"/>
          </a:xfrm>
          <a:prstGeom prst="rect">
            <a:avLst/>
          </a:prstGeom>
          <a:solidFill>
            <a:srgbClr val="0F1735"/>
          </a:solidFill>
          <a:ln/>
        </p:spPr>
      </p:sp>
      <p:sp>
        <p:nvSpPr>
          <p:cNvPr id="16" name="Text 14"/>
          <p:cNvSpPr/>
          <p:nvPr/>
        </p:nvSpPr>
        <p:spPr>
          <a:xfrm>
            <a:off x="6731000" y="1508760"/>
            <a:ext cx="120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Mezz interest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85760" y="1508760"/>
            <a:ext cx="1209040" cy="640080"/>
          </a:xfrm>
          <a:prstGeom prst="rect">
            <a:avLst/>
          </a:prstGeom>
          <a:solidFill>
            <a:srgbClr val="0F1735"/>
          </a:solidFill>
          <a:ln/>
        </p:spPr>
      </p:sp>
      <p:sp>
        <p:nvSpPr>
          <p:cNvPr id="18" name="Text 16"/>
          <p:cNvSpPr/>
          <p:nvPr/>
        </p:nvSpPr>
        <p:spPr>
          <a:xfrm>
            <a:off x="7985760" y="1508760"/>
            <a:ext cx="120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Mezz principal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240520" y="1508760"/>
            <a:ext cx="1209040" cy="640080"/>
          </a:xfrm>
          <a:prstGeom prst="rect">
            <a:avLst/>
          </a:prstGeom>
          <a:solidFill>
            <a:srgbClr val="0F1735"/>
          </a:solidFill>
          <a:ln/>
        </p:spPr>
      </p:sp>
      <p:sp>
        <p:nvSpPr>
          <p:cNvPr id="20" name="Text 18"/>
          <p:cNvSpPr/>
          <p:nvPr/>
        </p:nvSpPr>
        <p:spPr>
          <a:xfrm>
            <a:off x="9240520" y="1508760"/>
            <a:ext cx="120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Cash reserve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495280" y="1508760"/>
            <a:ext cx="1209040" cy="64008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20"/>
          <p:cNvSpPr/>
          <p:nvPr/>
        </p:nvSpPr>
        <p:spPr>
          <a:xfrm>
            <a:off x="10495280" y="1508760"/>
            <a:ext cx="120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 Equity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Tranche capital structure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6858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926080"/>
            <a:ext cx="73152" cy="8686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TR-A · Senior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AAA(SO)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3063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 / EOP (₹ Cr)</a:t>
            </a:r>
            <a:endParaRPr lang="en-US" sz="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35"/>
                </a:solidFill>
              </a:rPr>
              <a:t>43.69 / 27.27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0" y="3063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COUPON</a:t>
            </a:r>
            <a:endParaRPr lang="en-US" sz="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35"/>
                </a:solidFill>
              </a:rPr>
              <a:t>8.25 %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0" y="3063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80 %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3886200"/>
            <a:ext cx="6858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886200"/>
            <a:ext cx="73152" cy="86868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977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TR-B · Mezzanine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4297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AA(SO)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91840" y="40233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 / EOP (₹ Cr)</a:t>
            </a:r>
            <a:endParaRPr lang="en-US" sz="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35"/>
                </a:solidFill>
              </a:rPr>
              <a:t>6.55 / 6.55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29200" y="4023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COUPON</a:t>
            </a:r>
            <a:endParaRPr lang="en-US" sz="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35"/>
                </a:solidFill>
              </a:rPr>
              <a:t>10.50 %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17920" y="4023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A825"/>
                </a:solidFill>
              </a:rPr>
              <a:t>12 %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4846320"/>
            <a:ext cx="6858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4846320"/>
            <a:ext cx="73152" cy="8686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937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TR-C · Equity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" y="5257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BBB(SO)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91840" y="4983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 / EOP (₹ Cr)</a:t>
            </a:r>
            <a:endParaRPr lang="en-US" sz="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35"/>
                </a:solidFill>
              </a:rPr>
              <a:t>4.37 / 3.59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0" y="4983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COUPON</a:t>
            </a:r>
            <a:endParaRPr lang="en-US" sz="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35"/>
                </a:solidFill>
              </a:rPr>
              <a:t>14.00 %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17920" y="4983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8 %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77240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allocation order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772400" y="3108960"/>
            <a:ext cx="548640" cy="5486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1st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50392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 (TR-C)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50392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Absorbs first ₹4.37 Cr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772400" y="4069080"/>
            <a:ext cx="548640" cy="54864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51" name="Text 49"/>
          <p:cNvSpPr/>
          <p:nvPr/>
        </p:nvSpPr>
        <p:spPr>
          <a:xfrm>
            <a:off x="777240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2nd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503920" y="4023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Mezz (TR-B)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50392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₹6.55 Cr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772400" y="50292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5" name="Text 53"/>
          <p:cNvSpPr/>
          <p:nvPr/>
        </p:nvSpPr>
        <p:spPr>
          <a:xfrm>
            <a:off x="777240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3rd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503920" y="4983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(TR-A)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503920" y="5303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mezz wiped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Strictly Private &amp; Confidential  ·  Zetheta IP  ·  MatRisk AI v1.0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98480" y="228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CASE STUDIES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Calibrating the stress engine against history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episodes mapped onto the MatRisk scenario grid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54864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2008 Global Financial Crisis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SEVERE scenario · 2.8× PD · 1.45× LGD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Subprime US auto-ABS net losses peaked at ~9 % vs ~3 % through-the-cycle.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tranches investment-grade ABS held up; mezz / equity wiped on subprime.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autos largely insulated due to closed capital account, but FII pull-back stressed bank balance sheets.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SEVERE scenario reproduces a ~2.4× ECL uplift — directionally consistent.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4864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91640"/>
            <a:ext cx="54864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IL&amp;FS / NBFC Liquidity Crisis (2018-19)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2468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CRISIS scenario · 4.5× PD · 1.75× LGD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46520" y="288036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2018 IL&amp;FS default froze NBFC commercial-paper market; HFCs/auto-financiers most exposed.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DPD in auto-loan ABS doubled in 6 months for stressed pools.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loss allocation: equity wiped first (₹4.37 Cr) before mezz takes ₹1.43 Cr.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0F1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Used-vehicle prices fell 8-12 %; LGD multiplier of 1.75× is calibrated to that depreciation.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Strictly Private &amp; Confidential  ·  Zetheta IP  ·  MatRisk AI v1.0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98480" y="228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CONCLUSIONS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next steps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371600" cy="0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found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ZAAUTO2024-1 is healthy through-the-cycle: ECL coverage 3.6 % vs senior CE 27 %.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risk is real but contained: only the CRISIS scenario reaches the mezzanine.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Stage-3 loans drive 73 % of total ECL — concentrated rather than systemic.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4340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43400" y="21031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Python package, 87 % test coverage, fully containerised, CI green.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152-measure Power BI semantic layer regenerated from a single Python source of truth.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 HTML risk terminal — Chart.js inlined, zero CDN dependencies.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go next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0" y="21031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Macro-economic factor overlay (regression of PD on GDP, repo, unemployment).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Climate-stress scenarios per ECB / RBI guidance on transition risk.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monitoring: automated daily refresh, threshold alerts to investor mailbox.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github.com/ZethetaIntern/matrisk-ai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Strictly Private &amp; Confidential  ·  Zetheta IP  ·  MatRisk AI v1.0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Zetheta Algorithms Pvt.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MatRisk AI v1.0 — Securitisation Risk Analytics</dc:title>
  <dc:subject>Indian Auto-Loan ABS — Pool ZAAUTO2024-1</dc:subject>
  <dc:creator>Zetheta Algorithms Pvt. Ltd. — MatRisk AI Team</dc:creator>
  <cp:lastModifiedBy>Zetheta Algorithms Pvt. Ltd. — MatRisk AI Team</cp:lastModifiedBy>
  <cp:revision>1</cp:revision>
  <dcterms:created xsi:type="dcterms:W3CDTF">2026-05-21T09:03:49Z</dcterms:created>
  <dcterms:modified xsi:type="dcterms:W3CDTF">2026-05-21T09:03:49Z</dcterms:modified>
</cp:coreProperties>
</file>